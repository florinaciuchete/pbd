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9" r:id="rId4"/>
    <p:sldId id="259" r:id="rId5"/>
    <p:sldId id="260" r:id="rId6"/>
    <p:sldId id="258" r:id="rId7"/>
    <p:sldId id="261" r:id="rId8"/>
    <p:sldId id="263" r:id="rId9"/>
    <p:sldId id="262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48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44B1-059A-42CE-8143-0C4887E383DF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FA0E6BE-DC1C-42FB-92D0-B19961776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65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44B1-059A-42CE-8143-0C4887E383DF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0E6BE-DC1C-42FB-92D0-B19961776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71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44B1-059A-42CE-8143-0C4887E383DF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FA0E6BE-DC1C-42FB-92D0-B19961776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948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44B1-059A-42CE-8143-0C4887E383DF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FA0E6BE-DC1C-42FB-92D0-B19961776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3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44B1-059A-42CE-8143-0C4887E383DF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FA0E6BE-DC1C-42FB-92D0-B19961776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54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44B1-059A-42CE-8143-0C4887E383DF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0E6BE-DC1C-42FB-92D0-B19961776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641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44B1-059A-42CE-8143-0C4887E383DF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0E6BE-DC1C-42FB-92D0-B19961776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81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44B1-059A-42CE-8143-0C4887E383DF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0E6BE-DC1C-42FB-92D0-B19961776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030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44B1-059A-42CE-8143-0C4887E383DF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FA0E6BE-DC1C-42FB-92D0-B19961776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241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44B1-059A-42CE-8143-0C4887E383DF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FA0E6BE-DC1C-42FB-92D0-B19961776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61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44B1-059A-42CE-8143-0C4887E383DF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FA0E6BE-DC1C-42FB-92D0-B19961776D3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0466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44B1-059A-42CE-8143-0C4887E383DF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FA0E6BE-DC1C-42FB-92D0-B19961776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722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44B1-059A-42CE-8143-0C4887E383DF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FA0E6BE-DC1C-42FB-92D0-B19961776D3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8008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evărat sau f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44B1-059A-42CE-8143-0C4887E383DF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FA0E6BE-DC1C-42FB-92D0-B19961776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0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44B1-059A-42CE-8143-0C4887E383DF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0E6BE-DC1C-42FB-92D0-B19961776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287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44B1-059A-42CE-8143-0C4887E383DF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0E6BE-DC1C-42FB-92D0-B19961776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62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644B1-059A-42CE-8143-0C4887E383DF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FA0E6BE-DC1C-42FB-92D0-B19961776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78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E67D0F9-9E18-B198-6430-323EB517A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040" y="627407"/>
            <a:ext cx="10422571" cy="2618713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Proiectarea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baze de date </a:t>
            </a:r>
            <a:r>
              <a:rPr lang="en-US" dirty="0" err="1"/>
              <a:t>medicale</a:t>
            </a:r>
            <a:endParaRPr lang="en-US" dirty="0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7C35A2A9-7911-77F9-B448-A4AB48ED0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06878" y="4991611"/>
            <a:ext cx="9797733" cy="729622"/>
          </a:xfrm>
        </p:spPr>
        <p:txBody>
          <a:bodyPr>
            <a:normAutofit fontScale="85000" lnSpcReduction="20000"/>
          </a:bodyPr>
          <a:lstStyle/>
          <a:p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Coordonatori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SL dr.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Mădălin-Dorin Pop                      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Student: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Florina Ciuchete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</a:t>
            </a:r>
            <a:r>
              <a:rPr lang="ro-RO" sz="2200" dirty="0">
                <a:latin typeface="Arial" panose="020B0604020202020204" pitchFamily="34" charset="0"/>
                <a:cs typeface="Arial" panose="020B0604020202020204" pitchFamily="34" charset="0"/>
              </a:rPr>
              <a:t>Asist. ing. Lucian-Calin Ghinescu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658C1023-BCB3-751D-7D15-82BC4A7041E6}"/>
              </a:ext>
            </a:extLst>
          </p:cNvPr>
          <p:cNvSpPr txBox="1"/>
          <p:nvPr/>
        </p:nvSpPr>
        <p:spPr>
          <a:xfrm>
            <a:off x="5800855" y="2686799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Digitalizarea fluxurilor operaționale într-o clinică</a:t>
            </a:r>
            <a:endParaRPr lang="en-US" dirty="0"/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27B52A41-9A2B-1CD6-F08C-B10812BCC8CE}"/>
              </a:ext>
            </a:extLst>
          </p:cNvPr>
          <p:cNvSpPr txBox="1"/>
          <p:nvPr/>
        </p:nvSpPr>
        <p:spPr>
          <a:xfrm>
            <a:off x="5411111" y="6321065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ianuarie</a:t>
            </a:r>
            <a:r>
              <a:rPr lang="en-US" dirty="0"/>
              <a:t> 2026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95EBFB-487D-305B-360D-CD2B630AD4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9877" y="149257"/>
            <a:ext cx="1886039" cy="6020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94863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E80E3CC-EBE5-AE31-C674-C34E0FEFE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378" y="669080"/>
            <a:ext cx="8911687" cy="1280890"/>
          </a:xfrm>
        </p:spPr>
        <p:txBody>
          <a:bodyPr>
            <a:normAutofit/>
          </a:bodyPr>
          <a:lstStyle/>
          <a:p>
            <a:r>
              <a:rPr lang="en-US" sz="3200" dirty="0" err="1"/>
              <a:t>Contextul</a:t>
            </a:r>
            <a:r>
              <a:rPr lang="en-US" sz="3200" dirty="0"/>
              <a:t> </a:t>
            </a:r>
            <a:r>
              <a:rPr lang="ro-RO" sz="3200" dirty="0"/>
              <a:t>a</a:t>
            </a:r>
            <a:r>
              <a:rPr lang="en-US" sz="3200" dirty="0" err="1"/>
              <a:t>ctual</a:t>
            </a:r>
            <a:r>
              <a:rPr lang="en-US" sz="3200" dirty="0"/>
              <a:t> al </a:t>
            </a:r>
            <a:r>
              <a:rPr lang="ro-RO" sz="3200" dirty="0"/>
              <a:t>d</a:t>
            </a:r>
            <a:r>
              <a:rPr lang="en-US" sz="3200" dirty="0" err="1"/>
              <a:t>igitalizării</a:t>
            </a:r>
            <a:r>
              <a:rPr lang="en-US" sz="3200" dirty="0"/>
              <a:t> </a:t>
            </a:r>
            <a:r>
              <a:rPr lang="ro-RO" sz="3200" dirty="0"/>
              <a:t>m</a:t>
            </a:r>
            <a:r>
              <a:rPr lang="en-US" sz="3200" dirty="0" err="1"/>
              <a:t>edicale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2B0F538-4E5E-3D81-B86C-E20436AFA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670" y="2165420"/>
            <a:ext cx="1108110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marR="0"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lang="ro-RO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Evoluția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domeniului</a:t>
            </a:r>
            <a:r>
              <a:rPr lang="ro-RO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merge în </a:t>
            </a:r>
            <a:r>
              <a:rPr lang="ro-RO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directia</a:t>
            </a:r>
            <a:r>
              <a:rPr lang="ro-RO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tr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anziți</a:t>
            </a:r>
            <a:r>
              <a:rPr lang="ro-RO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registre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simple la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ecosisteme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complexe</a:t>
            </a:r>
            <a:r>
              <a:rPr lang="ro-RO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capabile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să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susțină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decizii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clinice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o-RO" altLang="en-US" sz="2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marR="0"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endParaRPr lang="ro-RO" altLang="en-US" sz="2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marR="0"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endParaRPr lang="en-US" altLang="en-US" sz="2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marR="0"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lang="ro-RO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identificată</a:t>
            </a:r>
            <a:r>
              <a:rPr lang="ro-RO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este legată de s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istemele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vechi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care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duc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fragmentarea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informației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cresc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riscul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eroare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umană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(ex: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necunoașterea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istoricului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alergiilor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ro-RO" altLang="en-US" sz="2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marR="0"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endParaRPr lang="en-US" altLang="en-US" sz="2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marR="0"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lang="ro-RO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en-US" sz="2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019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0BE03-48B5-4657-6AB0-2A6CC6BE5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6A00DAD-13AC-AA9B-5EEE-A0D0C5DDC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378" y="669080"/>
            <a:ext cx="8911687" cy="128089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Scop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32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biective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D17550-59FE-B9F6-3B3E-B3BA8ECB48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890117"/>
            <a:ext cx="11402498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Scopul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Centralizarea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securizarea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fluxului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informațional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(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pacient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-&gt; medic -&gt;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tratament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ro-RO" altLang="en-US" sz="2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Obiective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Trasabilitate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Istoric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interacțiunilor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pacient-clinică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Siguranța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Pacientului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Managementul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riscului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monitorizarea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strictă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alergiilor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3"/>
            </a:pP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Organizare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Structurarea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clară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personalului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medical pe </a:t>
            </a:r>
            <a:r>
              <a:rPr lang="en-US" alt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specializări</a:t>
            </a:r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146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FCA76DC-C6C1-EE36-420D-5AAC067D9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917" y="256645"/>
            <a:ext cx="9428814" cy="976312"/>
          </a:xfrm>
        </p:spPr>
        <p:txBody>
          <a:bodyPr>
            <a:no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Metodologie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IA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generativă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2800" dirty="0"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abordare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clasică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BEB0B25-125D-21A7-EDEA-9B74F3652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341" y="1381887"/>
            <a:ext cx="4781862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Abordarea</a:t>
            </a:r>
            <a:r>
              <a:rPr lang="en-US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propus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structură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denormalizată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date de test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lipsite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realism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 (ex: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Nume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„Albu”, „Negru”).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Substituent conținut 6">
            <a:extLst>
              <a:ext uri="{FF2B5EF4-FFF2-40B4-BE49-F238E27FC236}">
                <a16:creationId xmlns:a16="http://schemas.microsoft.com/office/drawing/2014/main" id="{09CDFB0C-1EB9-9204-6595-7EC10CB81A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7" t="35826" r="10352" b="21623"/>
          <a:stretch>
            <a:fillRect/>
          </a:stretch>
        </p:blipFill>
        <p:spPr>
          <a:xfrm>
            <a:off x="1970646" y="3971393"/>
            <a:ext cx="7631113" cy="1504720"/>
          </a:xfrm>
          <a:prstGeom prst="rect">
            <a:avLst/>
          </a:prstGeom>
        </p:spPr>
      </p:pic>
      <p:sp>
        <p:nvSpPr>
          <p:cNvPr id="9" name="CasetăText 8">
            <a:extLst>
              <a:ext uri="{FF2B5EF4-FFF2-40B4-BE49-F238E27FC236}">
                <a16:creationId xmlns:a16="http://schemas.microsoft.com/office/drawing/2014/main" id="{52C5DBE3-7A76-5F08-FD2D-05045A508641}"/>
              </a:ext>
            </a:extLst>
          </p:cNvPr>
          <p:cNvSpPr txBox="1"/>
          <p:nvPr/>
        </p:nvSpPr>
        <p:spPr>
          <a:xfrm>
            <a:off x="2739453" y="5591013"/>
            <a:ext cx="6093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Exemplu de date generate automat de IA - limitare semantică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setăText 10">
            <a:extLst>
              <a:ext uri="{FF2B5EF4-FFF2-40B4-BE49-F238E27FC236}">
                <a16:creationId xmlns:a16="http://schemas.microsoft.com/office/drawing/2014/main" id="{5EC0E3D0-EC9B-E736-54FF-E1DE85943C45}"/>
              </a:ext>
            </a:extLst>
          </p:cNvPr>
          <p:cNvSpPr txBox="1"/>
          <p:nvPr/>
        </p:nvSpPr>
        <p:spPr>
          <a:xfrm>
            <a:off x="5916118" y="1674274"/>
            <a:ext cx="60935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Abordarea</a:t>
            </a:r>
            <a:r>
              <a:rPr lang="en-US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Personală</a:t>
            </a:r>
            <a:r>
              <a:rPr lang="en-US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Aplicarea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riguroasă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formelor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normale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Validarea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semantică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datelor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impunerea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constrângerilor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integritate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(NOT NULL).</a:t>
            </a:r>
          </a:p>
        </p:txBody>
      </p:sp>
    </p:spTree>
    <p:extLst>
      <p:ext uri="{BB962C8B-B14F-4D97-AF65-F5344CB8AC3E}">
        <p14:creationId xmlns:p14="http://schemas.microsoft.com/office/powerpoint/2010/main" val="3496230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51D1E-1316-CF41-3588-FA743AAA7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49D334C-A4AE-C006-75F4-7798C20E6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907" y="629587"/>
            <a:ext cx="8394493" cy="614597"/>
          </a:xfrm>
        </p:spPr>
        <p:txBody>
          <a:bodyPr>
            <a:no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Proiectarea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Conceptuală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Diagrama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E-R)</a:t>
            </a:r>
          </a:p>
        </p:txBody>
      </p:sp>
      <p:pic>
        <p:nvPicPr>
          <p:cNvPr id="12" name="Imagine 11">
            <a:extLst>
              <a:ext uri="{FF2B5EF4-FFF2-40B4-BE49-F238E27FC236}">
                <a16:creationId xmlns:a16="http://schemas.microsoft.com/office/drawing/2014/main" id="{464D690C-D061-99BF-6287-B029D04AD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40" y="1395216"/>
            <a:ext cx="11279519" cy="514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310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F3A7B61-977A-E0D7-BBD9-2D8DD6FDF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476" y="674216"/>
            <a:ext cx="8911687" cy="545123"/>
          </a:xfrm>
        </p:spPr>
        <p:txBody>
          <a:bodyPr/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Proiectarea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Logică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Normalizarea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691B3DEC-E515-8478-0339-4DCA68389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085" y="1349115"/>
            <a:ext cx="9595641" cy="53809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3837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422E2C-D337-2420-5987-A157A109E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222" y="699756"/>
            <a:ext cx="5270311" cy="529437"/>
          </a:xfrm>
        </p:spPr>
        <p:txBody>
          <a:bodyPr>
            <a:norm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Proiectarea Fizică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07A434BC-0168-CC0E-2E3A-D0B3D02FA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550"/>
          <a:stretch>
            <a:fillRect/>
          </a:stretch>
        </p:blipFill>
        <p:spPr bwMode="auto">
          <a:xfrm>
            <a:off x="114257" y="1349114"/>
            <a:ext cx="11963485" cy="53286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4993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6CE82-8805-C522-34FE-C5DFE0ABA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1F04FC2-108E-2645-EF70-63545A4D5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223" y="699756"/>
            <a:ext cx="9857302" cy="814251"/>
          </a:xfrm>
        </p:spPr>
        <p:txBody>
          <a:bodyPr>
            <a:norm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Proiectarea Fizică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E9253B3C-3858-F6A6-C4E2-67EDA3D146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224"/>
          <a:stretch>
            <a:fillRect/>
          </a:stretch>
        </p:blipFill>
        <p:spPr bwMode="auto">
          <a:xfrm>
            <a:off x="723668" y="1213440"/>
            <a:ext cx="10668857" cy="56445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3474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B882372-0128-A73B-1E44-9797BFFA6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8499" y="714051"/>
            <a:ext cx="4377501" cy="680034"/>
          </a:xfrm>
        </p:spPr>
        <p:txBody>
          <a:bodyPr/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Implementare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Vederi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07B84B92-F4D5-32C0-9BA1-E2F8FCB68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0" t="8566" r="36218" b="67745"/>
          <a:stretch>
            <a:fillRect/>
          </a:stretch>
        </p:blipFill>
        <p:spPr>
          <a:xfrm>
            <a:off x="746905" y="1883491"/>
            <a:ext cx="11099319" cy="1181475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961FF286-1357-8799-36DB-F9073EA710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6" r="22770" b="60375"/>
          <a:stretch>
            <a:fillRect/>
          </a:stretch>
        </p:blipFill>
        <p:spPr>
          <a:xfrm>
            <a:off x="746904" y="4439366"/>
            <a:ext cx="11099319" cy="2220403"/>
          </a:xfrm>
          <a:prstGeom prst="rect">
            <a:avLst/>
          </a:prstGeom>
        </p:spPr>
      </p:pic>
      <p:sp>
        <p:nvSpPr>
          <p:cNvPr id="7" name="CasetăText 6">
            <a:extLst>
              <a:ext uri="{FF2B5EF4-FFF2-40B4-BE49-F238E27FC236}">
                <a16:creationId xmlns:a16="http://schemas.microsoft.com/office/drawing/2014/main" id="{6195F512-8D46-D8D5-454B-AB1072803A0C}"/>
              </a:ext>
            </a:extLst>
          </p:cNvPr>
          <p:cNvSpPr txBox="1"/>
          <p:nvPr/>
        </p:nvSpPr>
        <p:spPr>
          <a:xfrm>
            <a:off x="746903" y="1481120"/>
            <a:ext cx="11099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Vedere </a:t>
            </a:r>
            <a:r>
              <a:rPr lang="en-US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Simplă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care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filtrează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pacienții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40 ani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screening.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Ascunde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date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sensibile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1EA7070-4C18-0F78-3D9D-3445AA5A2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904" y="3402988"/>
            <a:ext cx="8520281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Vedere </a:t>
            </a:r>
            <a:r>
              <a:rPr lang="en-US" altLang="en-US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Complexă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Agregă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date din 4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tabele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Pacient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Consultație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Prescripție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Medicament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Simplifică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accesul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medicului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istoricul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75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95704-9868-B35C-3B8B-C8A608B3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C9A0FCF-D0DE-4E1F-8024-8D8825CC0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8498" y="714051"/>
            <a:ext cx="8934262" cy="764808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Implementare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Logică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Procedurală</a:t>
            </a:r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D489EE4C-9BF7-0E9D-8770-28FA2F3EF59E}"/>
              </a:ext>
            </a:extLst>
          </p:cNvPr>
          <p:cNvSpPr txBox="1"/>
          <p:nvPr/>
        </p:nvSpPr>
        <p:spPr>
          <a:xfrm>
            <a:off x="746904" y="1324461"/>
            <a:ext cx="110993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Procedura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adauga_pacient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gestionează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inserarea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datelor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tratează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erorile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duplicare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(ex: CNP existent).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B15ACF3-C025-7F00-CF96-576C7900B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929" y="1946267"/>
            <a:ext cx="10825399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Procedura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istoric_medical_pacient</a:t>
            </a:r>
            <a:r>
              <a:rPr lang="it-IT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folosește un CURSOR pentru a itera și afișa cronologic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diagnosticele unui pacient </a:t>
            </a:r>
            <a:endParaRPr lang="en-US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607F13E5-C18D-75D8-B8C2-831395B11C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8" r="4537" b="27718"/>
          <a:stretch>
            <a:fillRect/>
          </a:stretch>
        </p:blipFill>
        <p:spPr bwMode="auto">
          <a:xfrm>
            <a:off x="258391" y="2863386"/>
            <a:ext cx="5121332" cy="37953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6760F814-2A9F-1041-D225-D5D881E12C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6" b="23241"/>
          <a:stretch>
            <a:fillRect/>
          </a:stretch>
        </p:blipFill>
        <p:spPr bwMode="auto">
          <a:xfrm>
            <a:off x="5509716" y="2863386"/>
            <a:ext cx="6603150" cy="37953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0940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F74F2-CF85-3950-DC4D-A5D668FFD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83214EB-0268-9C1B-6EE2-1CE2D5929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8498" y="714051"/>
            <a:ext cx="8934262" cy="674275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Implementare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– Securitate,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declan</a:t>
            </a:r>
            <a:r>
              <a:rPr lang="ro-RO" sz="2800" dirty="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ator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1CA6730-2F02-2C1A-E98C-9E2D04E48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" y="1342160"/>
            <a:ext cx="112776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o-RO" altLang="en-US" dirty="0">
                <a:latin typeface="Arial" panose="020B0604020202020204" pitchFamily="34" charset="0"/>
              </a:rPr>
              <a:t>	</a:t>
            </a:r>
            <a:r>
              <a:rPr lang="en-US" altLang="en-US" sz="2000" dirty="0">
                <a:latin typeface="Arial" panose="020B0604020202020204" pitchFamily="34" charset="0"/>
              </a:rPr>
              <a:t>Declan</a:t>
            </a:r>
            <a:r>
              <a:rPr lang="ro-RO" altLang="en-US" sz="2000" dirty="0" err="1">
                <a:latin typeface="Arial" panose="020B0604020202020204" pitchFamily="34" charset="0"/>
              </a:rPr>
              <a:t>șatorul</a:t>
            </a:r>
            <a:r>
              <a:rPr lang="ro-RO" altLang="en-US" sz="2000" dirty="0">
                <a:latin typeface="Arial" panose="020B0604020202020204" pitchFamily="34" charset="0"/>
              </a:rPr>
              <a:t> p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erorile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grave.</a:t>
            </a:r>
            <a:r>
              <a:rPr kumimoji="0" lang="ro-RO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</a:t>
            </a:r>
            <a:r>
              <a:rPr lang="ro-RO" altLang="en-US" sz="2000" dirty="0">
                <a:latin typeface="Arial" panose="020B0604020202020204" pitchFamily="34" charset="0"/>
              </a:rPr>
              <a:t>v</a:t>
            </a:r>
            <a:r>
              <a:rPr lang="en-US" altLang="en-US" sz="2000" dirty="0" err="1">
                <a:latin typeface="Arial" panose="020B0604020202020204" pitchFamily="34" charset="0"/>
              </a:rPr>
              <a:t>erifică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înainte</a:t>
            </a:r>
            <a:r>
              <a:rPr lang="en-US" altLang="en-US" sz="2000" dirty="0">
                <a:latin typeface="Arial" panose="020B0604020202020204" pitchFamily="34" charset="0"/>
              </a:rPr>
              <a:t> de </a:t>
            </a:r>
            <a:r>
              <a:rPr lang="en-US" altLang="en-US" sz="2000" dirty="0" err="1">
                <a:latin typeface="Arial" panose="020B0604020202020204" pitchFamily="34" charset="0"/>
              </a:rPr>
              <a:t>inserare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dacă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substanța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activă</a:t>
            </a:r>
            <a:r>
              <a:rPr lang="en-US" altLang="en-US" sz="2000" dirty="0">
                <a:latin typeface="Arial" panose="020B0604020202020204" pitchFamily="34" charset="0"/>
              </a:rPr>
              <a:t> a</a:t>
            </a:r>
            <a:r>
              <a:rPr lang="ro-RO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medicamentului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prescris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este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în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lista</a:t>
            </a:r>
            <a:r>
              <a:rPr lang="en-US" altLang="en-US" sz="2000" dirty="0">
                <a:latin typeface="Arial" panose="020B0604020202020204" pitchFamily="34" charset="0"/>
              </a:rPr>
              <a:t> de </a:t>
            </a:r>
            <a:r>
              <a:rPr lang="en-US" altLang="en-US" sz="2000" dirty="0" err="1">
                <a:latin typeface="Arial" panose="020B0604020202020204" pitchFamily="34" charset="0"/>
              </a:rPr>
              <a:t>alergii</a:t>
            </a:r>
            <a:r>
              <a:rPr lang="en-US" altLang="en-US" sz="2000" dirty="0">
                <a:latin typeface="Arial" panose="020B0604020202020204" pitchFamily="34" charset="0"/>
              </a:rPr>
              <a:t> a </a:t>
            </a:r>
            <a:r>
              <a:rPr lang="en-US" altLang="en-US" sz="2000" dirty="0" err="1">
                <a:latin typeface="Arial" panose="020B0604020202020204" pitchFamily="34" charset="0"/>
              </a:rPr>
              <a:t>pacientului</a:t>
            </a:r>
            <a:r>
              <a:rPr lang="ro-RO" altLang="en-US" sz="2000" dirty="0">
                <a:latin typeface="Arial" panose="020B0604020202020204" pitchFamily="34" charset="0"/>
              </a:rPr>
              <a:t> și b</a:t>
            </a:r>
            <a:r>
              <a:rPr lang="en-US" altLang="en-US" sz="2000" dirty="0" err="1">
                <a:latin typeface="Arial" panose="020B0604020202020204" pitchFamily="34" charset="0"/>
              </a:rPr>
              <a:t>lochează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tranzacția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și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afișează</a:t>
            </a:r>
            <a:r>
              <a:rPr lang="en-US" altLang="en-US" sz="2000" dirty="0">
                <a:latin typeface="Arial" panose="020B0604020202020204" pitchFamily="34" charset="0"/>
              </a:rPr>
              <a:t> o </a:t>
            </a:r>
            <a:r>
              <a:rPr lang="en-US" altLang="en-US" sz="2000" dirty="0" err="1">
                <a:latin typeface="Arial" panose="020B0604020202020204" pitchFamily="34" charset="0"/>
              </a:rPr>
              <a:t>eroare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critică</a:t>
            </a:r>
            <a:r>
              <a:rPr lang="ro-RO" altLang="en-US" sz="2000" dirty="0">
                <a:latin typeface="Arial" panose="020B0604020202020204" pitchFamily="34" charset="0"/>
              </a:rPr>
              <a:t>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9" name="Imagine 8">
            <a:extLst>
              <a:ext uri="{FF2B5EF4-FFF2-40B4-BE49-F238E27FC236}">
                <a16:creationId xmlns:a16="http://schemas.microsoft.com/office/drawing/2014/main" id="{6537E8FE-C28C-65F6-3B08-9DA2648D7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178" y="2388621"/>
            <a:ext cx="10032683" cy="446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299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DA3905E-3CC6-7641-CE45-FC38DC41E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161" y="700310"/>
            <a:ext cx="9325292" cy="732250"/>
          </a:xfrm>
        </p:spPr>
        <p:txBody>
          <a:bodyPr/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Concluzii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28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irecții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ro-RO" sz="28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ezvoltare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54A039-CE8B-BC47-21B6-640A5EC1B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730053"/>
            <a:ext cx="827532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Concluzii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fost de</a:t>
            </a:r>
            <a:r>
              <a:rPr lang="ro-RO" altLang="en-US" sz="2000" dirty="0">
                <a:latin typeface="Arial" panose="020B0604020202020204" pitchFamily="34" charset="0"/>
              </a:rPr>
              <a:t>zvoltat un s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robust,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securizat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Deciziile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umane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sugestiilor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structurarea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datelor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ro-RO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Direcții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Viitoare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Interfață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Grafică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</a:t>
            </a:r>
            <a:endParaRPr kumimoji="0" lang="ro-RO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programări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stocare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imagistică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Auditarea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modificărilor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517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95AB4BE-2E7B-03D0-C8E8-1425A08A0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4252" y="1870480"/>
            <a:ext cx="8915399" cy="3117040"/>
          </a:xfrm>
        </p:spPr>
        <p:txBody>
          <a:bodyPr>
            <a:normAutofit/>
          </a:bodyPr>
          <a:lstStyle/>
          <a:p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Vă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mulțumesc</a:t>
            </a:r>
            <a:r>
              <a:rPr lang="ro-RO" sz="3200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113185"/>
      </p:ext>
    </p:extLst>
  </p:cSld>
  <p:clrMapOvr>
    <a:masterClrMapping/>
  </p:clrMapOvr>
</p:sld>
</file>

<file path=ppt/theme/theme1.xml><?xml version="1.0" encoding="utf-8"?>
<a:theme xmlns:a="http://schemas.openxmlformats.org/drawingml/2006/main" name="Adiere">
  <a:themeElements>
    <a:clrScheme name="Hârtie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Adier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Adiere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1131</TotalTime>
  <Words>406</Words>
  <Application>Microsoft Office PowerPoint</Application>
  <PresentationFormat>Ecran lat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Adiere</vt:lpstr>
      <vt:lpstr>Proiectarea și implementarea unei baze de date medicale</vt:lpstr>
      <vt:lpstr>Contextul actual al digitalizării medicale</vt:lpstr>
      <vt:lpstr>Scop și obiective</vt:lpstr>
      <vt:lpstr>Metodologie: IA generativă și abordare clasică</vt:lpstr>
      <vt:lpstr>Proiectarea Conceptuală (Diagrama E-R)</vt:lpstr>
      <vt:lpstr>Proiectarea Logică și Normalizarea</vt:lpstr>
      <vt:lpstr>Proiectarea Fizică</vt:lpstr>
      <vt:lpstr>Proiectarea Fizică</vt:lpstr>
      <vt:lpstr>Implementare - Vederi</vt:lpstr>
      <vt:lpstr>Implementare - Logică Procedurală</vt:lpstr>
      <vt:lpstr>Implementare – Securitate, declanșator</vt:lpstr>
      <vt:lpstr>Concluzii și direcții de dezvoltare</vt:lpstr>
      <vt:lpstr>Vă mulțumesc!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Florina Ciuchete</dc:creator>
  <cp:lastModifiedBy>Florina Ciuchete</cp:lastModifiedBy>
  <cp:revision>4</cp:revision>
  <dcterms:created xsi:type="dcterms:W3CDTF">2026-01-13T12:55:14Z</dcterms:created>
  <dcterms:modified xsi:type="dcterms:W3CDTF">2026-01-14T07:46:14Z</dcterms:modified>
</cp:coreProperties>
</file>